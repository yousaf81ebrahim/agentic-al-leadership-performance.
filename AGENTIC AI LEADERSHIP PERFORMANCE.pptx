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Sarabun" panose="020B0604020202020204" charset="-34"/>
      <p:regular r:id="rId12"/>
    </p:embeddedFont>
    <p:embeddedFont>
      <p:font typeface="Sarabun Bold" panose="020B0604020202020204" charset="-34"/>
      <p:regular r:id="rId13"/>
    </p:embeddedFont>
    <p:embeddedFont>
      <p:font typeface="Sarabun Italics" panose="020B0604020202020204" charset="-3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94622" autoAdjust="0"/>
  </p:normalViewPr>
  <p:slideViewPr>
    <p:cSldViewPr>
      <p:cViewPr varScale="1">
        <p:scale>
          <a:sx n="59" d="100"/>
          <a:sy n="59" d="100"/>
        </p:scale>
        <p:origin x="307"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5171213" y="-1000930"/>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93547" y="3139324"/>
            <a:ext cx="17830800" cy="3231654"/>
          </a:xfrm>
          <a:prstGeom prst="rect">
            <a:avLst/>
          </a:prstGeom>
        </p:spPr>
        <p:txBody>
          <a:bodyPr wrap="square" lIns="0" tIns="0" rIns="0" bIns="0" rtlCol="0" anchor="t">
            <a:spAutoFit/>
          </a:bodyPr>
          <a:lstStyle/>
          <a:p>
            <a:pPr algn="r">
              <a:lnSpc>
                <a:spcPts val="12600"/>
              </a:lnSpc>
            </a:pPr>
            <a:r>
              <a:rPr lang="en-US" sz="12300" b="1" dirty="0">
                <a:solidFill>
                  <a:schemeClr val="tx2"/>
                </a:solidFill>
                <a:latin typeface="Sarabun Bold"/>
                <a:ea typeface="Sarabun Bold"/>
                <a:cs typeface="Sarabun Bold"/>
                <a:sym typeface="Sarabun Bold"/>
              </a:rPr>
              <a:t>AGENTIC AI LEADERSHIP PERFORMANCE </a:t>
            </a:r>
          </a:p>
        </p:txBody>
      </p:sp>
      <p:sp>
        <p:nvSpPr>
          <p:cNvPr id="11" name="TextBox 11"/>
          <p:cNvSpPr txBox="1"/>
          <p:nvPr/>
        </p:nvSpPr>
        <p:spPr>
          <a:xfrm>
            <a:off x="11446586" y="6447696"/>
            <a:ext cx="5012614" cy="1051570"/>
          </a:xfrm>
          <a:prstGeom prst="rect">
            <a:avLst/>
          </a:prstGeom>
        </p:spPr>
        <p:txBody>
          <a:bodyPr wrap="square" lIns="0" tIns="0" rIns="0" bIns="0" rtlCol="0" anchor="t">
            <a:spAutoFit/>
          </a:bodyPr>
          <a:lstStyle/>
          <a:p>
            <a:pPr>
              <a:lnSpc>
                <a:spcPts val="4070"/>
              </a:lnSpc>
            </a:pPr>
            <a:r>
              <a:rPr lang="en-US" sz="3700" b="1" i="1" dirty="0">
                <a:solidFill>
                  <a:schemeClr val="tx2"/>
                </a:solidFill>
                <a:latin typeface="Sarabun Italics"/>
                <a:ea typeface="Sarabun Italics"/>
                <a:cs typeface="Sarabun Italics"/>
                <a:sym typeface="Sarabun Italics"/>
              </a:rPr>
              <a:t>PRESENTED BY,                                  </a:t>
            </a:r>
          </a:p>
          <a:p>
            <a:pPr algn="r">
              <a:lnSpc>
                <a:spcPts val="4070"/>
              </a:lnSpc>
            </a:pPr>
            <a:r>
              <a:rPr lang="en-US" sz="3700" b="1" i="1" dirty="0">
                <a:solidFill>
                  <a:schemeClr val="tx2"/>
                </a:solidFill>
                <a:latin typeface="Sarabun Italics"/>
                <a:ea typeface="Sarabun Italics"/>
                <a:cs typeface="Sarabun Italics"/>
                <a:sym typeface="Sarabun Italics"/>
              </a:rPr>
              <a:t>       ROHINI SURESH</a:t>
            </a:r>
          </a:p>
        </p:txBody>
      </p:sp>
      <p:sp>
        <p:nvSpPr>
          <p:cNvPr id="16" name="AutoShape 16"/>
          <p:cNvSpPr/>
          <p:nvPr/>
        </p:nvSpPr>
        <p:spPr>
          <a:xfrm flipV="1">
            <a:off x="6774043" y="6210300"/>
            <a:ext cx="11450304" cy="0"/>
          </a:xfrm>
          <a:prstGeom prst="line">
            <a:avLst/>
          </a:prstGeom>
          <a:ln w="38100" cap="flat">
            <a:solidFill>
              <a:schemeClr val="tx2"/>
            </a:solidFill>
            <a:prstDash val="solid"/>
            <a:headEnd type="none" w="sm" len="sm"/>
            <a:tailEnd type="none" w="sm" len="sm"/>
          </a:ln>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336372" y="-1269014"/>
            <a:ext cx="8649698" cy="4595427"/>
            <a:chOff x="0" y="0"/>
            <a:chExt cx="2278110" cy="1210318"/>
          </a:xfrm>
        </p:grpSpPr>
        <p:sp>
          <p:nvSpPr>
            <p:cNvPr id="3" name="Freeform 3"/>
            <p:cNvSpPr/>
            <p:nvPr/>
          </p:nvSpPr>
          <p:spPr>
            <a:xfrm>
              <a:off x="0" y="0"/>
              <a:ext cx="2278110" cy="1210318"/>
            </a:xfrm>
            <a:custGeom>
              <a:avLst/>
              <a:gdLst/>
              <a:ahLst/>
              <a:cxnLst/>
              <a:rect l="l" t="t" r="r" b="b"/>
              <a:pathLst>
                <a:path w="2278110" h="1210318">
                  <a:moveTo>
                    <a:pt x="45648" y="0"/>
                  </a:moveTo>
                  <a:lnTo>
                    <a:pt x="2232462" y="0"/>
                  </a:lnTo>
                  <a:cubicBezTo>
                    <a:pt x="2257673" y="0"/>
                    <a:pt x="2278110" y="20437"/>
                    <a:pt x="2278110" y="45648"/>
                  </a:cubicBezTo>
                  <a:lnTo>
                    <a:pt x="2278110" y="1164671"/>
                  </a:lnTo>
                  <a:cubicBezTo>
                    <a:pt x="2278110" y="1176777"/>
                    <a:pt x="2273301" y="1188388"/>
                    <a:pt x="2264740" y="1196948"/>
                  </a:cubicBezTo>
                  <a:cubicBezTo>
                    <a:pt x="2256179" y="1205509"/>
                    <a:pt x="2244569" y="1210318"/>
                    <a:pt x="2232462" y="1210318"/>
                  </a:cubicBezTo>
                  <a:lnTo>
                    <a:pt x="45648" y="1210318"/>
                  </a:lnTo>
                  <a:cubicBezTo>
                    <a:pt x="33541" y="1210318"/>
                    <a:pt x="21930" y="1205509"/>
                    <a:pt x="13370" y="1196948"/>
                  </a:cubicBezTo>
                  <a:cubicBezTo>
                    <a:pt x="4809" y="1188388"/>
                    <a:pt x="0" y="1176777"/>
                    <a:pt x="0" y="1164671"/>
                  </a:cubicBezTo>
                  <a:lnTo>
                    <a:pt x="0" y="45648"/>
                  </a:lnTo>
                  <a:cubicBezTo>
                    <a:pt x="0" y="33541"/>
                    <a:pt x="4809" y="21930"/>
                    <a:pt x="13370" y="13370"/>
                  </a:cubicBezTo>
                  <a:cubicBezTo>
                    <a:pt x="21930" y="4809"/>
                    <a:pt x="33541" y="0"/>
                    <a:pt x="45648" y="0"/>
                  </a:cubicBezTo>
                  <a:close/>
                </a:path>
              </a:pathLst>
            </a:custGeom>
            <a:solidFill>
              <a:srgbClr val="002566"/>
            </a:solidFill>
          </p:spPr>
        </p:sp>
        <p:sp>
          <p:nvSpPr>
            <p:cNvPr id="4" name="TextBox 4"/>
            <p:cNvSpPr txBox="1"/>
            <p:nvPr/>
          </p:nvSpPr>
          <p:spPr>
            <a:xfrm>
              <a:off x="0" y="-28575"/>
              <a:ext cx="2278110" cy="123889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2185386" y="1085850"/>
            <a:ext cx="6800683" cy="899160"/>
          </a:xfrm>
          <a:prstGeom prst="rect">
            <a:avLst/>
          </a:prstGeom>
        </p:spPr>
        <p:txBody>
          <a:bodyPr lIns="0" tIns="0" rIns="0" bIns="0" rtlCol="0" anchor="t">
            <a:spAutoFit/>
          </a:bodyPr>
          <a:lstStyle/>
          <a:p>
            <a:pPr algn="l">
              <a:lnSpc>
                <a:spcPts val="6929"/>
              </a:lnSpc>
            </a:pPr>
            <a:r>
              <a:rPr lang="en-US" sz="6299" b="1">
                <a:solidFill>
                  <a:srgbClr val="FFFFFF"/>
                </a:solidFill>
                <a:latin typeface="Sarabun Bold"/>
                <a:ea typeface="Sarabun Bold"/>
                <a:cs typeface="Sarabun Bold"/>
                <a:sym typeface="Sarabun Bold"/>
              </a:rPr>
              <a:t>INTRODUCTION</a:t>
            </a:r>
          </a:p>
        </p:txBody>
      </p:sp>
      <p:sp>
        <p:nvSpPr>
          <p:cNvPr id="7" name="TextBox 7"/>
          <p:cNvSpPr txBox="1"/>
          <p:nvPr/>
        </p:nvSpPr>
        <p:spPr>
          <a:xfrm>
            <a:off x="1028700" y="3877577"/>
            <a:ext cx="16230600" cy="4378331"/>
          </a:xfrm>
          <a:prstGeom prst="rect">
            <a:avLst/>
          </a:prstGeom>
        </p:spPr>
        <p:txBody>
          <a:bodyPr lIns="0" tIns="0" rIns="0" bIns="0" rtlCol="0" anchor="t">
            <a:spAutoFit/>
          </a:bodyPr>
          <a:lstStyle/>
          <a:p>
            <a:pPr algn="just">
              <a:lnSpc>
                <a:spcPts val="3850"/>
              </a:lnSpc>
            </a:pPr>
            <a:r>
              <a:rPr lang="en-US" sz="3500">
                <a:solidFill>
                  <a:srgbClr val="002566"/>
                </a:solidFill>
                <a:latin typeface="Sarabun"/>
                <a:ea typeface="Sarabun"/>
                <a:cs typeface="Sarabun"/>
                <a:sym typeface="Sarabun"/>
              </a:rPr>
              <a:t>In today’s rapidly evolving digital landscape, Artificial Intelligence is transforming the way organizations operate and make decisions. One of the most advanced forms of AI is Agentic AI, which has the capability to act autonomously, adapt to dynamic environments, and support leadership-level decision-making.</a:t>
            </a:r>
          </a:p>
          <a:p>
            <a:pPr algn="just">
              <a:lnSpc>
                <a:spcPts val="3850"/>
              </a:lnSpc>
            </a:pPr>
            <a:endParaRPr lang="en-US" sz="3500">
              <a:solidFill>
                <a:srgbClr val="002566"/>
              </a:solidFill>
              <a:latin typeface="Sarabun"/>
              <a:ea typeface="Sarabun"/>
              <a:cs typeface="Sarabun"/>
              <a:sym typeface="Sarabun"/>
            </a:endParaRPr>
          </a:p>
          <a:p>
            <a:pPr algn="just">
              <a:lnSpc>
                <a:spcPts val="3850"/>
              </a:lnSpc>
            </a:pPr>
            <a:r>
              <a:rPr lang="en-US" sz="3500">
                <a:solidFill>
                  <a:srgbClr val="002566"/>
                </a:solidFill>
                <a:latin typeface="Sarabun"/>
                <a:ea typeface="Sarabun"/>
                <a:cs typeface="Sarabun"/>
                <a:sym typeface="Sarabun"/>
              </a:rPr>
              <a:t>This presentation focuses on the AgenticAI Leadership Dataset, which provides valuable insights into how AI adoption influences organizational performance, trust, and productivity. By analyzing this dataset, we aim to understand the relationship between AI-driven systems and business outcomes across different industries.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546313" y="-140317"/>
            <a:ext cx="19174567" cy="3005215"/>
            <a:chOff x="0" y="0"/>
            <a:chExt cx="5050092" cy="791497"/>
          </a:xfrm>
        </p:grpSpPr>
        <p:sp>
          <p:nvSpPr>
            <p:cNvPr id="3" name="Freeform 3"/>
            <p:cNvSpPr/>
            <p:nvPr/>
          </p:nvSpPr>
          <p:spPr>
            <a:xfrm>
              <a:off x="0" y="0"/>
              <a:ext cx="5050092" cy="791497"/>
            </a:xfrm>
            <a:custGeom>
              <a:avLst/>
              <a:gdLst/>
              <a:ahLst/>
              <a:cxnLst/>
              <a:rect l="l" t="t" r="r" b="b"/>
              <a:pathLst>
                <a:path w="5050092" h="791497">
                  <a:moveTo>
                    <a:pt x="20592" y="0"/>
                  </a:moveTo>
                  <a:lnTo>
                    <a:pt x="5029500" y="0"/>
                  </a:lnTo>
                  <a:cubicBezTo>
                    <a:pt x="5034961" y="0"/>
                    <a:pt x="5040199" y="2169"/>
                    <a:pt x="5044061" y="6031"/>
                  </a:cubicBezTo>
                  <a:cubicBezTo>
                    <a:pt x="5047922" y="9893"/>
                    <a:pt x="5050092" y="15130"/>
                    <a:pt x="5050092" y="20592"/>
                  </a:cubicBezTo>
                  <a:lnTo>
                    <a:pt x="5050092" y="770905"/>
                  </a:lnTo>
                  <a:cubicBezTo>
                    <a:pt x="5050092" y="776367"/>
                    <a:pt x="5047922" y="781604"/>
                    <a:pt x="5044061" y="785466"/>
                  </a:cubicBezTo>
                  <a:cubicBezTo>
                    <a:pt x="5040199" y="789327"/>
                    <a:pt x="5034961" y="791497"/>
                    <a:pt x="5029500" y="791497"/>
                  </a:cubicBezTo>
                  <a:lnTo>
                    <a:pt x="20592" y="791497"/>
                  </a:lnTo>
                  <a:cubicBezTo>
                    <a:pt x="15130" y="791497"/>
                    <a:pt x="9893" y="789327"/>
                    <a:pt x="6031" y="785466"/>
                  </a:cubicBezTo>
                  <a:cubicBezTo>
                    <a:pt x="2169" y="781604"/>
                    <a:pt x="0" y="776367"/>
                    <a:pt x="0" y="770905"/>
                  </a:cubicBezTo>
                  <a:lnTo>
                    <a:pt x="0" y="20592"/>
                  </a:lnTo>
                  <a:cubicBezTo>
                    <a:pt x="0" y="15130"/>
                    <a:pt x="2169" y="9893"/>
                    <a:pt x="6031" y="6031"/>
                  </a:cubicBezTo>
                  <a:cubicBezTo>
                    <a:pt x="9893" y="2169"/>
                    <a:pt x="15130" y="0"/>
                    <a:pt x="20592" y="0"/>
                  </a:cubicBezTo>
                  <a:close/>
                </a:path>
              </a:pathLst>
            </a:custGeom>
            <a:solidFill>
              <a:srgbClr val="002566"/>
            </a:solidFill>
          </p:spPr>
        </p:sp>
        <p:sp>
          <p:nvSpPr>
            <p:cNvPr id="4" name="TextBox 4"/>
            <p:cNvSpPr txBox="1"/>
            <p:nvPr/>
          </p:nvSpPr>
          <p:spPr>
            <a:xfrm>
              <a:off x="0" y="-28575"/>
              <a:ext cx="5050092" cy="8200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986635" y="7915100"/>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95392" y="-289569"/>
            <a:ext cx="2453660" cy="2413509"/>
          </a:xfrm>
          <a:custGeom>
            <a:avLst/>
            <a:gdLst/>
            <a:ahLst/>
            <a:cxnLst/>
            <a:rect l="l" t="t" r="r" b="b"/>
            <a:pathLst>
              <a:path w="2453660" h="2413509">
                <a:moveTo>
                  <a:pt x="0" y="0"/>
                </a:moveTo>
                <a:lnTo>
                  <a:pt x="2453660" y="0"/>
                </a:lnTo>
                <a:lnTo>
                  <a:pt x="2453660" y="2413509"/>
                </a:lnTo>
                <a:lnTo>
                  <a:pt x="0" y="241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929052" y="1182241"/>
            <a:ext cx="5423493" cy="941700"/>
          </a:xfrm>
          <a:prstGeom prst="rect">
            <a:avLst/>
          </a:prstGeom>
        </p:spPr>
        <p:txBody>
          <a:bodyPr lIns="0" tIns="0" rIns="0" bIns="0" rtlCol="0" anchor="t">
            <a:spAutoFit/>
          </a:bodyPr>
          <a:lstStyle/>
          <a:p>
            <a:pPr algn="l">
              <a:lnSpc>
                <a:spcPts val="7314"/>
              </a:lnSpc>
            </a:pPr>
            <a:r>
              <a:rPr lang="en-US" sz="6649" b="1">
                <a:solidFill>
                  <a:srgbClr val="FFFFFF"/>
                </a:solidFill>
                <a:latin typeface="Sarabun Bold"/>
                <a:ea typeface="Sarabun Bold"/>
                <a:cs typeface="Sarabun Bold"/>
                <a:sym typeface="Sarabun Bold"/>
              </a:rPr>
              <a:t>OBJECTIVES</a:t>
            </a:r>
          </a:p>
        </p:txBody>
      </p:sp>
      <p:sp>
        <p:nvSpPr>
          <p:cNvPr id="8" name="TextBox 8"/>
          <p:cNvSpPr txBox="1"/>
          <p:nvPr/>
        </p:nvSpPr>
        <p:spPr>
          <a:xfrm>
            <a:off x="1028700" y="2936869"/>
            <a:ext cx="14469094" cy="6321431"/>
          </a:xfrm>
          <a:prstGeom prst="rect">
            <a:avLst/>
          </a:prstGeom>
        </p:spPr>
        <p:txBody>
          <a:bodyPr lIns="0" tIns="0" rIns="0" bIns="0" rtlCol="0" anchor="t">
            <a:spAutoFit/>
          </a:bodyPr>
          <a:lstStyle/>
          <a:p>
            <a:pPr algn="just">
              <a:lnSpc>
                <a:spcPts val="3850"/>
              </a:lnSpc>
            </a:pPr>
            <a:endParaRPr dirty="0"/>
          </a:p>
          <a:p>
            <a:pPr algn="just">
              <a:lnSpc>
                <a:spcPts val="3850"/>
              </a:lnSpc>
            </a:pPr>
            <a:r>
              <a:rPr lang="en-US" sz="3500" dirty="0">
                <a:solidFill>
                  <a:srgbClr val="002566"/>
                </a:solidFill>
                <a:latin typeface="Sarabun"/>
                <a:ea typeface="Sarabun"/>
                <a:cs typeface="Sarabun"/>
                <a:sym typeface="Sarabun"/>
              </a:rPr>
              <a:t>The primary objective of this project is to analyze the impact of Agentic AI on organizational leadership and performance. </a:t>
            </a:r>
          </a:p>
          <a:p>
            <a:pPr algn="just">
              <a:lnSpc>
                <a:spcPts val="3850"/>
              </a:lnSpc>
            </a:pPr>
            <a:r>
              <a:rPr lang="en-US" sz="3500" dirty="0">
                <a:solidFill>
                  <a:srgbClr val="002566"/>
                </a:solidFill>
                <a:latin typeface="Sarabun"/>
                <a:ea typeface="Sarabun"/>
                <a:cs typeface="Sarabun"/>
                <a:sym typeface="Sarabun"/>
              </a:rPr>
              <a:t> </a:t>
            </a:r>
          </a:p>
          <a:p>
            <a:pPr algn="just">
              <a:lnSpc>
                <a:spcPts val="3850"/>
              </a:lnSpc>
            </a:pPr>
            <a:r>
              <a:rPr lang="en-US" sz="3500" dirty="0">
                <a:solidFill>
                  <a:srgbClr val="002566"/>
                </a:solidFill>
                <a:latin typeface="Sarabun"/>
                <a:ea typeface="Sarabun"/>
                <a:cs typeface="Sarabun"/>
                <a:sym typeface="Sarabun"/>
              </a:rPr>
              <a:t>This includes:</a:t>
            </a:r>
          </a:p>
          <a:p>
            <a:pPr algn="just">
              <a:lnSpc>
                <a:spcPts val="3850"/>
              </a:lnSpc>
            </a:pPr>
            <a:endParaRPr lang="en-US" sz="3500" dirty="0">
              <a:solidFill>
                <a:srgbClr val="002566"/>
              </a:solidFill>
              <a:latin typeface="Sarabun"/>
              <a:ea typeface="Sarabun"/>
              <a:cs typeface="Sarabun"/>
              <a:sym typeface="Sarabun"/>
            </a:endParaRP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 Understanding how trust in AI affects adoption</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Evaluating productivity improvements through AI implementation</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 Analyzing task success rates across industries</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Identifying patterns between AI adoption and performance levels</a:t>
            </a:r>
          </a:p>
          <a:p>
            <a:pPr algn="just">
              <a:lnSpc>
                <a:spcPts val="3850"/>
              </a:lnSpc>
            </a:pPr>
            <a:endParaRPr lang="en-US" sz="3500" dirty="0">
              <a:solidFill>
                <a:srgbClr val="002566"/>
              </a:solidFill>
              <a:latin typeface="Sarabun"/>
              <a:ea typeface="Sarabun"/>
              <a:cs typeface="Sarabun"/>
              <a:sym typeface="Sarabun"/>
            </a:endParaRPr>
          </a:p>
          <a:p>
            <a:pPr algn="just">
              <a:lnSpc>
                <a:spcPts val="3850"/>
              </a:lnSpc>
            </a:pPr>
            <a:r>
              <a:rPr lang="en-US" sz="3500" dirty="0">
                <a:solidFill>
                  <a:srgbClr val="002566"/>
                </a:solidFill>
                <a:latin typeface="Sarabun"/>
                <a:ea typeface="Sarabun"/>
                <a:cs typeface="Sarabun"/>
                <a:sym typeface="Sarabun"/>
              </a:rPr>
              <a:t>The goal is to derive meaningful insights that highlight the importance of AI in modern decision-making and organizational growth.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200946">
            <a:off x="-3415698" y="-1152283"/>
            <a:ext cx="12019375" cy="12893129"/>
            <a:chOff x="0" y="0"/>
            <a:chExt cx="2991969" cy="3209471"/>
          </a:xfrm>
        </p:grpSpPr>
        <p:sp>
          <p:nvSpPr>
            <p:cNvPr id="3" name="Freeform 3"/>
            <p:cNvSpPr/>
            <p:nvPr/>
          </p:nvSpPr>
          <p:spPr>
            <a:xfrm>
              <a:off x="0" y="0"/>
              <a:ext cx="2991969" cy="3209471"/>
            </a:xfrm>
            <a:custGeom>
              <a:avLst/>
              <a:gdLst/>
              <a:ahLst/>
              <a:cxnLst/>
              <a:rect l="l" t="t" r="r" b="b"/>
              <a:pathLst>
                <a:path w="2991969" h="3209471">
                  <a:moveTo>
                    <a:pt x="32850" y="0"/>
                  </a:moveTo>
                  <a:lnTo>
                    <a:pt x="2959118" y="0"/>
                  </a:lnTo>
                  <a:cubicBezTo>
                    <a:pt x="2967831" y="0"/>
                    <a:pt x="2976186" y="3461"/>
                    <a:pt x="2982347" y="9622"/>
                  </a:cubicBezTo>
                  <a:cubicBezTo>
                    <a:pt x="2988508" y="15782"/>
                    <a:pt x="2991969" y="24138"/>
                    <a:pt x="2991969" y="32850"/>
                  </a:cubicBezTo>
                  <a:lnTo>
                    <a:pt x="2991969" y="3176621"/>
                  </a:lnTo>
                  <a:cubicBezTo>
                    <a:pt x="2991969" y="3185333"/>
                    <a:pt x="2988508" y="3193689"/>
                    <a:pt x="2982347" y="3199849"/>
                  </a:cubicBezTo>
                  <a:cubicBezTo>
                    <a:pt x="2976186" y="3206010"/>
                    <a:pt x="2967831" y="3209471"/>
                    <a:pt x="2959118" y="3209471"/>
                  </a:cubicBezTo>
                  <a:lnTo>
                    <a:pt x="32850" y="3209471"/>
                  </a:lnTo>
                  <a:cubicBezTo>
                    <a:pt x="14708" y="3209471"/>
                    <a:pt x="0" y="3194764"/>
                    <a:pt x="0" y="3176621"/>
                  </a:cubicBezTo>
                  <a:lnTo>
                    <a:pt x="0" y="32850"/>
                  </a:lnTo>
                  <a:cubicBezTo>
                    <a:pt x="0" y="24138"/>
                    <a:pt x="3461" y="15782"/>
                    <a:pt x="9622" y="9622"/>
                  </a:cubicBezTo>
                  <a:cubicBezTo>
                    <a:pt x="15782" y="3461"/>
                    <a:pt x="24138" y="0"/>
                    <a:pt x="32850" y="0"/>
                  </a:cubicBezTo>
                  <a:close/>
                </a:path>
              </a:pathLst>
            </a:custGeom>
            <a:solidFill>
              <a:srgbClr val="002566">
                <a:alpha val="13725"/>
              </a:srgbClr>
            </a:solidFill>
          </p:spPr>
        </p:sp>
        <p:sp>
          <p:nvSpPr>
            <p:cNvPr id="4" name="TextBox 4"/>
            <p:cNvSpPr txBox="1"/>
            <p:nvPr/>
          </p:nvSpPr>
          <p:spPr>
            <a:xfrm>
              <a:off x="0" y="-28575"/>
              <a:ext cx="2991969" cy="323804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14699" y="652053"/>
            <a:ext cx="828002" cy="2347429"/>
          </a:xfrm>
          <a:custGeom>
            <a:avLst/>
            <a:gdLst/>
            <a:ahLst/>
            <a:cxnLst/>
            <a:rect l="l" t="t" r="r" b="b"/>
            <a:pathLst>
              <a:path w="828002" h="2347429">
                <a:moveTo>
                  <a:pt x="0" y="0"/>
                </a:moveTo>
                <a:lnTo>
                  <a:pt x="828002" y="0"/>
                </a:lnTo>
                <a:lnTo>
                  <a:pt x="828002" y="2347429"/>
                </a:lnTo>
                <a:lnTo>
                  <a:pt x="0" y="234742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0" y="1371110"/>
            <a:ext cx="18288000" cy="7544780"/>
          </a:xfrm>
          <a:custGeom>
            <a:avLst/>
            <a:gdLst/>
            <a:ahLst/>
            <a:cxnLst/>
            <a:rect l="l" t="t" r="r" b="b"/>
            <a:pathLst>
              <a:path w="18288000" h="7544780">
                <a:moveTo>
                  <a:pt x="0" y="0"/>
                </a:moveTo>
                <a:lnTo>
                  <a:pt x="18288000" y="0"/>
                </a:lnTo>
                <a:lnTo>
                  <a:pt x="18288000" y="7544780"/>
                </a:lnTo>
                <a:lnTo>
                  <a:pt x="0" y="7544780"/>
                </a:lnTo>
                <a:lnTo>
                  <a:pt x="0" y="0"/>
                </a:lnTo>
                <a:close/>
              </a:path>
            </a:pathLst>
          </a:custGeom>
          <a:blipFill>
            <a:blip r:embed="rId3"/>
            <a:stretch>
              <a:fillRect l="-259" r="-259" b="-810"/>
            </a:stretch>
          </a:blipFill>
        </p:spPr>
      </p:sp>
      <p:sp>
        <p:nvSpPr>
          <p:cNvPr id="7" name="TextBox 7"/>
          <p:cNvSpPr txBox="1"/>
          <p:nvPr/>
        </p:nvSpPr>
        <p:spPr>
          <a:xfrm>
            <a:off x="7420683" y="246602"/>
            <a:ext cx="3446633" cy="868052"/>
          </a:xfrm>
          <a:prstGeom prst="rect">
            <a:avLst/>
          </a:prstGeom>
        </p:spPr>
        <p:txBody>
          <a:bodyPr lIns="0" tIns="0" rIns="0" bIns="0" rtlCol="0" anchor="t">
            <a:spAutoFit/>
          </a:bodyPr>
          <a:lstStyle/>
          <a:p>
            <a:pPr algn="l">
              <a:lnSpc>
                <a:spcPts val="6710"/>
              </a:lnSpc>
            </a:pPr>
            <a:r>
              <a:rPr lang="en-US" sz="6100" b="1">
                <a:solidFill>
                  <a:srgbClr val="002566"/>
                </a:solidFill>
                <a:latin typeface="Sarabun Bold"/>
                <a:ea typeface="Sarabun Bold"/>
                <a:cs typeface="Sarabun Bold"/>
                <a:sym typeface="Sarabun Bold"/>
              </a:rPr>
              <a:t>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566"/>
        </a:solidFill>
        <a:effectLst/>
      </p:bgPr>
    </p:bg>
    <p:spTree>
      <p:nvGrpSpPr>
        <p:cNvPr id="1" name=""/>
        <p:cNvGrpSpPr/>
        <p:nvPr/>
      </p:nvGrpSpPr>
      <p:grpSpPr>
        <a:xfrm>
          <a:off x="0" y="0"/>
          <a:ext cx="0" cy="0"/>
          <a:chOff x="0" y="0"/>
          <a:chExt cx="0" cy="0"/>
        </a:xfrm>
      </p:grpSpPr>
      <p:sp>
        <p:nvSpPr>
          <p:cNvPr id="2" name="Freeform 2"/>
          <p:cNvSpPr/>
          <p:nvPr/>
        </p:nvSpPr>
        <p:spPr>
          <a:xfrm>
            <a:off x="0" y="339948"/>
            <a:ext cx="18288000" cy="9947052"/>
          </a:xfrm>
          <a:custGeom>
            <a:avLst/>
            <a:gdLst/>
            <a:ahLst/>
            <a:cxnLst/>
            <a:rect l="l" t="t" r="r" b="b"/>
            <a:pathLst>
              <a:path w="18288000" h="9947052">
                <a:moveTo>
                  <a:pt x="0" y="0"/>
                </a:moveTo>
                <a:lnTo>
                  <a:pt x="18288000" y="0"/>
                </a:lnTo>
                <a:lnTo>
                  <a:pt x="18288000" y="9947052"/>
                </a:lnTo>
                <a:lnTo>
                  <a:pt x="0" y="9947052"/>
                </a:lnTo>
                <a:lnTo>
                  <a:pt x="0" y="0"/>
                </a:lnTo>
                <a:close/>
              </a:path>
            </a:pathLst>
          </a:custGeom>
          <a:blipFill>
            <a:blip r:embed="rId2"/>
            <a:stretch>
              <a:fillRect t="-217" r="-162" b="-1296"/>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1761214" y="2142764"/>
            <a:ext cx="13975363" cy="7503874"/>
            <a:chOff x="0" y="0"/>
            <a:chExt cx="5660725" cy="3039447"/>
          </a:xfrm>
        </p:grpSpPr>
        <p:sp>
          <p:nvSpPr>
            <p:cNvPr id="3" name="Freeform 3"/>
            <p:cNvSpPr/>
            <p:nvPr/>
          </p:nvSpPr>
          <p:spPr>
            <a:xfrm>
              <a:off x="0" y="0"/>
              <a:ext cx="5660725" cy="3039447"/>
            </a:xfrm>
            <a:custGeom>
              <a:avLst/>
              <a:gdLst/>
              <a:ahLst/>
              <a:cxnLst/>
              <a:rect l="l" t="t" r="r" b="b"/>
              <a:pathLst>
                <a:path w="5660725" h="3039447">
                  <a:moveTo>
                    <a:pt x="28252" y="0"/>
                  </a:moveTo>
                  <a:lnTo>
                    <a:pt x="5632472" y="0"/>
                  </a:lnTo>
                  <a:cubicBezTo>
                    <a:pt x="5648076" y="0"/>
                    <a:pt x="5660725" y="12649"/>
                    <a:pt x="5660725" y="28252"/>
                  </a:cubicBezTo>
                  <a:lnTo>
                    <a:pt x="5660725" y="3011194"/>
                  </a:lnTo>
                  <a:cubicBezTo>
                    <a:pt x="5660725" y="3026798"/>
                    <a:pt x="5648076" y="3039447"/>
                    <a:pt x="5632472" y="3039447"/>
                  </a:cubicBezTo>
                  <a:lnTo>
                    <a:pt x="28252" y="3039447"/>
                  </a:lnTo>
                  <a:cubicBezTo>
                    <a:pt x="12649" y="3039447"/>
                    <a:pt x="0" y="3026798"/>
                    <a:pt x="0" y="3011194"/>
                  </a:cubicBezTo>
                  <a:lnTo>
                    <a:pt x="0" y="28252"/>
                  </a:lnTo>
                  <a:cubicBezTo>
                    <a:pt x="0" y="12649"/>
                    <a:pt x="12649" y="0"/>
                    <a:pt x="28252" y="0"/>
                  </a:cubicBezTo>
                  <a:close/>
                </a:path>
              </a:pathLst>
            </a:custGeom>
            <a:solidFill>
              <a:srgbClr val="002566"/>
            </a:solidFill>
          </p:spPr>
        </p:sp>
        <p:sp>
          <p:nvSpPr>
            <p:cNvPr id="4" name="TextBox 4"/>
            <p:cNvSpPr txBox="1"/>
            <p:nvPr/>
          </p:nvSpPr>
          <p:spPr>
            <a:xfrm>
              <a:off x="0" y="-28575"/>
              <a:ext cx="5660725" cy="306802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038405" y="23632"/>
            <a:ext cx="3799620" cy="3737444"/>
          </a:xfrm>
          <a:custGeom>
            <a:avLst/>
            <a:gdLst/>
            <a:ahLst/>
            <a:cxnLst/>
            <a:rect l="l" t="t" r="r" b="b"/>
            <a:pathLst>
              <a:path w="3799620" h="3737444">
                <a:moveTo>
                  <a:pt x="0" y="0"/>
                </a:moveTo>
                <a:lnTo>
                  <a:pt x="3799619" y="0"/>
                </a:lnTo>
                <a:lnTo>
                  <a:pt x="3799619" y="3737444"/>
                </a:lnTo>
                <a:lnTo>
                  <a:pt x="0" y="373744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791663" y="6057098"/>
            <a:ext cx="4393658" cy="4393658"/>
          </a:xfrm>
          <a:custGeom>
            <a:avLst/>
            <a:gdLst/>
            <a:ahLst/>
            <a:cxnLst/>
            <a:rect l="l" t="t" r="r" b="b"/>
            <a:pathLst>
              <a:path w="4393658" h="4393658">
                <a:moveTo>
                  <a:pt x="0" y="0"/>
                </a:moveTo>
                <a:lnTo>
                  <a:pt x="4393659" y="0"/>
                </a:lnTo>
                <a:lnTo>
                  <a:pt x="4393659" y="4393658"/>
                </a:lnTo>
                <a:lnTo>
                  <a:pt x="0" y="43936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761214" y="878009"/>
            <a:ext cx="14765572" cy="872997"/>
          </a:xfrm>
          <a:prstGeom prst="rect">
            <a:avLst/>
          </a:prstGeom>
        </p:spPr>
        <p:txBody>
          <a:bodyPr lIns="0" tIns="0" rIns="0" bIns="0" rtlCol="0" anchor="t">
            <a:spAutoFit/>
          </a:bodyPr>
          <a:lstStyle/>
          <a:p>
            <a:pPr algn="ctr">
              <a:lnSpc>
                <a:spcPts val="6565"/>
              </a:lnSpc>
            </a:pPr>
            <a:r>
              <a:rPr lang="en-US" sz="6699" b="1">
                <a:solidFill>
                  <a:srgbClr val="002566"/>
                </a:solidFill>
                <a:latin typeface="Sarabun Bold"/>
                <a:ea typeface="Sarabun Bold"/>
                <a:cs typeface="Sarabun Bold"/>
                <a:sym typeface="Sarabun Bold"/>
              </a:rPr>
              <a:t>CRITERIA USED</a:t>
            </a:r>
          </a:p>
        </p:txBody>
      </p:sp>
      <p:sp>
        <p:nvSpPr>
          <p:cNvPr id="8" name="TextBox 8"/>
          <p:cNvSpPr txBox="1"/>
          <p:nvPr/>
        </p:nvSpPr>
        <p:spPr>
          <a:xfrm>
            <a:off x="4383288" y="3281596"/>
            <a:ext cx="9521425" cy="6792422"/>
          </a:xfrm>
          <a:prstGeom prst="rect">
            <a:avLst/>
          </a:prstGeom>
        </p:spPr>
        <p:txBody>
          <a:bodyPr lIns="0" tIns="0" rIns="0" bIns="0" rtlCol="0" anchor="t">
            <a:spAutoFit/>
          </a:bodyPr>
          <a:lstStyle/>
          <a:p>
            <a:pPr marL="638373" lvl="1" indent="-319187" algn="l">
              <a:lnSpc>
                <a:spcPts val="4139"/>
              </a:lnSpc>
              <a:buFont typeface="Arial"/>
              <a:buChar char="•"/>
            </a:pPr>
            <a:r>
              <a:rPr lang="en-US" sz="2956">
                <a:solidFill>
                  <a:srgbClr val="FFFFFF"/>
                </a:solidFill>
                <a:latin typeface="Sarabun"/>
                <a:ea typeface="Sarabun"/>
                <a:cs typeface="Sarabun"/>
                <a:sym typeface="Sarabun"/>
              </a:rPr>
              <a:t>Trust Level </a:t>
            </a:r>
          </a:p>
          <a:p>
            <a:pPr marL="638373" lvl="1" indent="-319187" algn="l">
              <a:lnSpc>
                <a:spcPts val="4139"/>
              </a:lnSpc>
              <a:buFont typeface="Arial"/>
              <a:buChar char="•"/>
            </a:pPr>
            <a:r>
              <a:rPr lang="en-US" sz="2956">
                <a:solidFill>
                  <a:srgbClr val="FFFFFF"/>
                </a:solidFill>
                <a:latin typeface="Sarabun"/>
                <a:ea typeface="Sarabun"/>
                <a:cs typeface="Sarabun"/>
                <a:sym typeface="Sarabun"/>
              </a:rPr>
              <a:t>Industry  </a:t>
            </a:r>
          </a:p>
          <a:p>
            <a:pPr marL="638373" lvl="1" indent="-319187" algn="l">
              <a:lnSpc>
                <a:spcPts val="4139"/>
              </a:lnSpc>
              <a:buFont typeface="Arial"/>
              <a:buChar char="•"/>
            </a:pPr>
            <a:r>
              <a:rPr lang="en-US" sz="2956">
                <a:solidFill>
                  <a:srgbClr val="FFFFFF"/>
                </a:solidFill>
                <a:latin typeface="Sarabun"/>
                <a:ea typeface="Sarabun"/>
                <a:cs typeface="Sarabun"/>
                <a:sym typeface="Sarabun"/>
              </a:rPr>
              <a:t>Performance Category                    </a:t>
            </a:r>
          </a:p>
          <a:p>
            <a:pPr marL="638373" lvl="1" indent="-319187" algn="l">
              <a:lnSpc>
                <a:spcPts val="4139"/>
              </a:lnSpc>
              <a:buFont typeface="Arial"/>
              <a:buChar char="•"/>
            </a:pPr>
            <a:r>
              <a:rPr lang="en-US" sz="2956">
                <a:solidFill>
                  <a:srgbClr val="FFFFFF"/>
                </a:solidFill>
                <a:latin typeface="Sarabun"/>
                <a:ea typeface="Sarabun"/>
                <a:cs typeface="Sarabun"/>
                <a:sym typeface="Sarabun"/>
              </a:rPr>
              <a:t>Adoption Success                              </a:t>
            </a:r>
          </a:p>
          <a:p>
            <a:pPr marL="638375" lvl="1" indent="-319187" algn="l">
              <a:lnSpc>
                <a:spcPts val="4139"/>
              </a:lnSpc>
              <a:buFont typeface="Arial"/>
              <a:buChar char="•"/>
            </a:pPr>
            <a:r>
              <a:rPr lang="en-US" sz="2956">
                <a:solidFill>
                  <a:srgbClr val="FFFFFF"/>
                </a:solidFill>
                <a:latin typeface="Sarabun"/>
                <a:ea typeface="Sarabun"/>
                <a:cs typeface="Sarabun"/>
                <a:sym typeface="Sarabun"/>
              </a:rPr>
              <a:t>Productivity Improvement (%)       </a:t>
            </a:r>
          </a:p>
          <a:p>
            <a:pPr marL="638373" lvl="1" indent="-319187" algn="l">
              <a:lnSpc>
                <a:spcPts val="4139"/>
              </a:lnSpc>
              <a:buFont typeface="Arial"/>
              <a:buChar char="•"/>
            </a:pPr>
            <a:r>
              <a:rPr lang="en-US" sz="2956">
                <a:solidFill>
                  <a:srgbClr val="FFFFFF"/>
                </a:solidFill>
                <a:latin typeface="Sarabun"/>
                <a:ea typeface="Sarabun"/>
                <a:cs typeface="Sarabun"/>
                <a:sym typeface="Sarabun"/>
              </a:rPr>
              <a:t>Task Success Rate (%)                   </a:t>
            </a:r>
          </a:p>
          <a:p>
            <a:pPr marL="638373" lvl="1" indent="-319187" algn="l">
              <a:lnSpc>
                <a:spcPts val="4139"/>
              </a:lnSpc>
              <a:buFont typeface="Arial"/>
              <a:buChar char="•"/>
            </a:pPr>
            <a:r>
              <a:rPr lang="en-US" sz="2956">
                <a:solidFill>
                  <a:srgbClr val="FFFFFF"/>
                </a:solidFill>
                <a:latin typeface="Sarabun"/>
                <a:ea typeface="Sarabun"/>
                <a:cs typeface="Sarabun"/>
                <a:sym typeface="Sarabun"/>
              </a:rPr>
              <a:t>AI Maturity Level                              </a:t>
            </a:r>
          </a:p>
          <a:p>
            <a:pPr marL="638373" lvl="1" indent="-319187" algn="l">
              <a:lnSpc>
                <a:spcPts val="4139"/>
              </a:lnSpc>
              <a:buFont typeface="Arial"/>
              <a:buChar char="•"/>
            </a:pPr>
            <a:r>
              <a:rPr lang="en-US" sz="2956">
                <a:solidFill>
                  <a:srgbClr val="FFFFFF"/>
                </a:solidFill>
                <a:latin typeface="Sarabun"/>
                <a:ea typeface="Sarabun"/>
                <a:cs typeface="Sarabun"/>
                <a:sym typeface="Sarabun"/>
              </a:rPr>
              <a:t>Response Time                                 </a:t>
            </a: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8635485" y="-485258"/>
            <a:ext cx="11156868" cy="15883501"/>
            <a:chOff x="0" y="0"/>
            <a:chExt cx="2938434" cy="4183309"/>
          </a:xfrm>
        </p:grpSpPr>
        <p:sp>
          <p:nvSpPr>
            <p:cNvPr id="3" name="Freeform 3"/>
            <p:cNvSpPr/>
            <p:nvPr/>
          </p:nvSpPr>
          <p:spPr>
            <a:xfrm>
              <a:off x="0" y="0"/>
              <a:ext cx="2938434" cy="4183309"/>
            </a:xfrm>
            <a:custGeom>
              <a:avLst/>
              <a:gdLst/>
              <a:ahLst/>
              <a:cxnLst/>
              <a:rect l="l" t="t" r="r" b="b"/>
              <a:pathLst>
                <a:path w="2938434" h="4183309">
                  <a:moveTo>
                    <a:pt x="35390" y="0"/>
                  </a:moveTo>
                  <a:lnTo>
                    <a:pt x="2903045" y="0"/>
                  </a:lnTo>
                  <a:cubicBezTo>
                    <a:pt x="2912431" y="0"/>
                    <a:pt x="2921432" y="3729"/>
                    <a:pt x="2928069" y="10365"/>
                  </a:cubicBezTo>
                  <a:cubicBezTo>
                    <a:pt x="2934706" y="17002"/>
                    <a:pt x="2938434" y="26004"/>
                    <a:pt x="2938434" y="35390"/>
                  </a:cubicBezTo>
                  <a:lnTo>
                    <a:pt x="2938434" y="4147919"/>
                  </a:lnTo>
                  <a:cubicBezTo>
                    <a:pt x="2938434" y="4157305"/>
                    <a:pt x="2934706" y="4166307"/>
                    <a:pt x="2928069" y="4172944"/>
                  </a:cubicBezTo>
                  <a:cubicBezTo>
                    <a:pt x="2921432" y="4179581"/>
                    <a:pt x="2912431" y="4183309"/>
                    <a:pt x="2903045" y="4183309"/>
                  </a:cubicBezTo>
                  <a:lnTo>
                    <a:pt x="35390" y="4183309"/>
                  </a:lnTo>
                  <a:cubicBezTo>
                    <a:pt x="26004" y="4183309"/>
                    <a:pt x="17002" y="4179581"/>
                    <a:pt x="10365" y="4172944"/>
                  </a:cubicBezTo>
                  <a:cubicBezTo>
                    <a:pt x="3729" y="4166307"/>
                    <a:pt x="0" y="4157305"/>
                    <a:pt x="0" y="4147919"/>
                  </a:cubicBezTo>
                  <a:lnTo>
                    <a:pt x="0" y="35390"/>
                  </a:lnTo>
                  <a:cubicBezTo>
                    <a:pt x="0" y="26004"/>
                    <a:pt x="3729" y="17002"/>
                    <a:pt x="10365" y="10365"/>
                  </a:cubicBezTo>
                  <a:cubicBezTo>
                    <a:pt x="17002" y="3729"/>
                    <a:pt x="26004" y="0"/>
                    <a:pt x="35390" y="0"/>
                  </a:cubicBezTo>
                  <a:close/>
                </a:path>
              </a:pathLst>
            </a:custGeom>
            <a:solidFill>
              <a:srgbClr val="002566">
                <a:alpha val="17647"/>
              </a:srgbClr>
            </a:solidFill>
          </p:spPr>
        </p:sp>
        <p:sp>
          <p:nvSpPr>
            <p:cNvPr id="4" name="TextBox 4"/>
            <p:cNvSpPr txBox="1"/>
            <p:nvPr/>
          </p:nvSpPr>
          <p:spPr>
            <a:xfrm>
              <a:off x="0" y="-28575"/>
              <a:ext cx="2938434" cy="4211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11851963" y="-14652129"/>
            <a:ext cx="6737061" cy="25768931"/>
            <a:chOff x="0" y="0"/>
            <a:chExt cx="1774370" cy="6786879"/>
          </a:xfrm>
        </p:grpSpPr>
        <p:sp>
          <p:nvSpPr>
            <p:cNvPr id="6" name="Freeform 6"/>
            <p:cNvSpPr/>
            <p:nvPr/>
          </p:nvSpPr>
          <p:spPr>
            <a:xfrm>
              <a:off x="0" y="0"/>
              <a:ext cx="1774370" cy="6786879"/>
            </a:xfrm>
            <a:custGeom>
              <a:avLst/>
              <a:gdLst/>
              <a:ahLst/>
              <a:cxnLst/>
              <a:rect l="l" t="t" r="r" b="b"/>
              <a:pathLst>
                <a:path w="1774370" h="6786879">
                  <a:moveTo>
                    <a:pt x="58607" y="0"/>
                  </a:moveTo>
                  <a:lnTo>
                    <a:pt x="1715763" y="0"/>
                  </a:lnTo>
                  <a:cubicBezTo>
                    <a:pt x="1748131" y="0"/>
                    <a:pt x="1774370" y="26239"/>
                    <a:pt x="1774370" y="58607"/>
                  </a:cubicBezTo>
                  <a:lnTo>
                    <a:pt x="1774370" y="6728272"/>
                  </a:lnTo>
                  <a:cubicBezTo>
                    <a:pt x="1774370" y="6743815"/>
                    <a:pt x="1768195" y="6758722"/>
                    <a:pt x="1757204" y="6769713"/>
                  </a:cubicBezTo>
                  <a:cubicBezTo>
                    <a:pt x="1746213" y="6780704"/>
                    <a:pt x="1731307" y="6786879"/>
                    <a:pt x="1715763" y="6786879"/>
                  </a:cubicBezTo>
                  <a:lnTo>
                    <a:pt x="58607" y="6786879"/>
                  </a:lnTo>
                  <a:cubicBezTo>
                    <a:pt x="43063" y="6786879"/>
                    <a:pt x="28156" y="6780704"/>
                    <a:pt x="17166" y="6769713"/>
                  </a:cubicBezTo>
                  <a:cubicBezTo>
                    <a:pt x="6175" y="6758722"/>
                    <a:pt x="0" y="6743815"/>
                    <a:pt x="0" y="6728272"/>
                  </a:cubicBezTo>
                  <a:lnTo>
                    <a:pt x="0" y="58607"/>
                  </a:lnTo>
                  <a:cubicBezTo>
                    <a:pt x="0" y="43063"/>
                    <a:pt x="6175" y="28156"/>
                    <a:pt x="17166" y="17166"/>
                  </a:cubicBezTo>
                  <a:cubicBezTo>
                    <a:pt x="28156" y="6175"/>
                    <a:pt x="43063" y="0"/>
                    <a:pt x="58607" y="0"/>
                  </a:cubicBezTo>
                  <a:close/>
                </a:path>
              </a:pathLst>
            </a:custGeom>
            <a:solidFill>
              <a:srgbClr val="002566"/>
            </a:solidFill>
          </p:spPr>
        </p:sp>
        <p:sp>
          <p:nvSpPr>
            <p:cNvPr id="7" name="TextBox 7"/>
            <p:cNvSpPr txBox="1"/>
            <p:nvPr/>
          </p:nvSpPr>
          <p:spPr>
            <a:xfrm>
              <a:off x="0" y="-28575"/>
              <a:ext cx="1774370" cy="681545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497663" y="7890188"/>
            <a:ext cx="2611028" cy="4114800"/>
          </a:xfrm>
          <a:custGeom>
            <a:avLst/>
            <a:gdLst/>
            <a:ahLst/>
            <a:cxnLst/>
            <a:rect l="l" t="t" r="r" b="b"/>
            <a:pathLst>
              <a:path w="2611028" h="4114800">
                <a:moveTo>
                  <a:pt x="0" y="0"/>
                </a:moveTo>
                <a:lnTo>
                  <a:pt x="2611027" y="0"/>
                </a:lnTo>
                <a:lnTo>
                  <a:pt x="2611027"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72322" y="-490025"/>
            <a:ext cx="2401536" cy="1833900"/>
          </a:xfrm>
          <a:custGeom>
            <a:avLst/>
            <a:gdLst/>
            <a:ahLst/>
            <a:cxnLst/>
            <a:rect l="l" t="t" r="r" b="b"/>
            <a:pathLst>
              <a:path w="2401536" h="1833900">
                <a:moveTo>
                  <a:pt x="0" y="0"/>
                </a:moveTo>
                <a:lnTo>
                  <a:pt x="2401536" y="0"/>
                </a:lnTo>
                <a:lnTo>
                  <a:pt x="2401536" y="1833900"/>
                </a:lnTo>
                <a:lnTo>
                  <a:pt x="0" y="18339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3960920" y="1171575"/>
            <a:ext cx="6052436" cy="872997"/>
          </a:xfrm>
          <a:prstGeom prst="rect">
            <a:avLst/>
          </a:prstGeom>
        </p:spPr>
        <p:txBody>
          <a:bodyPr lIns="0" tIns="0" rIns="0" bIns="0" rtlCol="0" anchor="t">
            <a:spAutoFit/>
          </a:bodyPr>
          <a:lstStyle/>
          <a:p>
            <a:pPr algn="l">
              <a:lnSpc>
                <a:spcPts val="6565"/>
              </a:lnSpc>
            </a:pPr>
            <a:r>
              <a:rPr lang="en-US" sz="6699" b="1">
                <a:solidFill>
                  <a:srgbClr val="002566"/>
                </a:solidFill>
                <a:latin typeface="Sarabun Bold"/>
                <a:ea typeface="Sarabun Bold"/>
                <a:cs typeface="Sarabun Bold"/>
                <a:sym typeface="Sarabun Bold"/>
              </a:rPr>
              <a:t>CONCLUSION</a:t>
            </a:r>
          </a:p>
        </p:txBody>
      </p:sp>
      <p:sp>
        <p:nvSpPr>
          <p:cNvPr id="11" name="TextBox 11"/>
          <p:cNvSpPr txBox="1"/>
          <p:nvPr/>
        </p:nvSpPr>
        <p:spPr>
          <a:xfrm>
            <a:off x="764756" y="2849963"/>
            <a:ext cx="13819768" cy="8464299"/>
          </a:xfrm>
          <a:prstGeom prst="rect">
            <a:avLst/>
          </a:prstGeom>
        </p:spPr>
        <p:txBody>
          <a:bodyPr lIns="0" tIns="0" rIns="0" bIns="0" rtlCol="0" anchor="t">
            <a:spAutoFit/>
          </a:bodyPr>
          <a:lstStyle/>
          <a:p>
            <a:pPr algn="l">
              <a:lnSpc>
                <a:spcPts val="4668"/>
              </a:lnSpc>
            </a:pPr>
            <a:r>
              <a:rPr lang="en-US" sz="3334">
                <a:solidFill>
                  <a:srgbClr val="002566"/>
                </a:solidFill>
                <a:latin typeface="Sarabun"/>
                <a:ea typeface="Sarabun"/>
                <a:cs typeface="Sarabun"/>
                <a:sym typeface="Sarabun"/>
              </a:rPr>
              <a:t>In conclusion, this project shows that Agentic AI has a strong impact on how organizations perform and make decisions. The dashboard clearly shows that when organizations trust AI and use it successfully, their productivity and task success rates improve.</a:t>
            </a:r>
          </a:p>
          <a:p>
            <a:pPr algn="l">
              <a:lnSpc>
                <a:spcPts val="4668"/>
              </a:lnSpc>
            </a:pPr>
            <a:r>
              <a:rPr lang="en-US" sz="3334">
                <a:solidFill>
                  <a:srgbClr val="002566"/>
                </a:solidFill>
                <a:latin typeface="Sarabun"/>
                <a:ea typeface="Sarabun"/>
                <a:cs typeface="Sarabun"/>
                <a:sym typeface="Sarabun"/>
              </a:rPr>
              <a:t>It also shows that the impact of AI is different in each industry, depending on how well it is used. Organizations that use AI properly achieve better results.</a:t>
            </a:r>
          </a:p>
          <a:p>
            <a:pPr algn="l">
              <a:lnSpc>
                <a:spcPts val="4668"/>
              </a:lnSpc>
            </a:pPr>
            <a:r>
              <a:rPr lang="en-US" sz="3334">
                <a:solidFill>
                  <a:srgbClr val="002566"/>
                </a:solidFill>
                <a:latin typeface="Sarabun"/>
                <a:ea typeface="Sarabun"/>
                <a:cs typeface="Sarabun"/>
                <a:sym typeface="Sarabun"/>
              </a:rPr>
              <a:t>Overall, this project highlights that trusting and using AI in the right way can improve efficiency, leadership, and business growth. The dashboard helps in understanding these insights and supports better decision-making.</a:t>
            </a: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1381611" y="243889"/>
            <a:ext cx="15394924" cy="2135047"/>
            <a:chOff x="0" y="0"/>
            <a:chExt cx="4054630" cy="562317"/>
          </a:xfrm>
        </p:grpSpPr>
        <p:sp>
          <p:nvSpPr>
            <p:cNvPr id="3" name="Freeform 3"/>
            <p:cNvSpPr/>
            <p:nvPr/>
          </p:nvSpPr>
          <p:spPr>
            <a:xfrm>
              <a:off x="0" y="0"/>
              <a:ext cx="4054630" cy="562317"/>
            </a:xfrm>
            <a:custGeom>
              <a:avLst/>
              <a:gdLst/>
              <a:ahLst/>
              <a:cxnLst/>
              <a:rect l="l" t="t" r="r" b="b"/>
              <a:pathLst>
                <a:path w="4054630" h="562317">
                  <a:moveTo>
                    <a:pt x="25647" y="0"/>
                  </a:moveTo>
                  <a:lnTo>
                    <a:pt x="4028983" y="0"/>
                  </a:lnTo>
                  <a:cubicBezTo>
                    <a:pt x="4043147" y="0"/>
                    <a:pt x="4054630" y="11483"/>
                    <a:pt x="4054630" y="25647"/>
                  </a:cubicBezTo>
                  <a:lnTo>
                    <a:pt x="4054630" y="536670"/>
                  </a:lnTo>
                  <a:cubicBezTo>
                    <a:pt x="4054630" y="550834"/>
                    <a:pt x="4043147" y="562317"/>
                    <a:pt x="4028983" y="562317"/>
                  </a:cubicBezTo>
                  <a:lnTo>
                    <a:pt x="25647" y="562317"/>
                  </a:lnTo>
                  <a:cubicBezTo>
                    <a:pt x="11483" y="562317"/>
                    <a:pt x="0" y="550834"/>
                    <a:pt x="0" y="536670"/>
                  </a:cubicBezTo>
                  <a:lnTo>
                    <a:pt x="0" y="25647"/>
                  </a:lnTo>
                  <a:cubicBezTo>
                    <a:pt x="0" y="11483"/>
                    <a:pt x="11483" y="0"/>
                    <a:pt x="25647" y="0"/>
                  </a:cubicBezTo>
                  <a:close/>
                </a:path>
              </a:pathLst>
            </a:custGeom>
            <a:solidFill>
              <a:srgbClr val="002566"/>
            </a:solidFill>
          </p:spPr>
        </p:sp>
        <p:sp>
          <p:nvSpPr>
            <p:cNvPr id="4" name="TextBox 4"/>
            <p:cNvSpPr txBox="1"/>
            <p:nvPr/>
          </p:nvSpPr>
          <p:spPr>
            <a:xfrm>
              <a:off x="0" y="-28575"/>
              <a:ext cx="4054630" cy="59089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6635483" y="956891"/>
            <a:ext cx="6788647" cy="920498"/>
          </a:xfrm>
          <a:prstGeom prst="rect">
            <a:avLst/>
          </a:prstGeom>
        </p:spPr>
        <p:txBody>
          <a:bodyPr lIns="0" tIns="0" rIns="0" bIns="0" rtlCol="0" anchor="t">
            <a:spAutoFit/>
          </a:bodyPr>
          <a:lstStyle/>
          <a:p>
            <a:pPr algn="l">
              <a:lnSpc>
                <a:spcPts val="7128"/>
              </a:lnSpc>
            </a:pPr>
            <a:r>
              <a:rPr lang="en-US" sz="6480" b="1">
                <a:solidFill>
                  <a:srgbClr val="FFFBE8"/>
                </a:solidFill>
                <a:latin typeface="Sarabun Bold"/>
                <a:ea typeface="Sarabun Bold"/>
                <a:cs typeface="Sarabun Bold"/>
                <a:sym typeface="Sarabun Bold"/>
              </a:rPr>
              <a:t>SUGGESTIONS</a:t>
            </a:r>
          </a:p>
        </p:txBody>
      </p:sp>
      <p:sp>
        <p:nvSpPr>
          <p:cNvPr id="6" name="TextBox 6"/>
          <p:cNvSpPr txBox="1"/>
          <p:nvPr/>
        </p:nvSpPr>
        <p:spPr>
          <a:xfrm>
            <a:off x="1586567" y="3059838"/>
            <a:ext cx="15533668" cy="5455514"/>
          </a:xfrm>
          <a:prstGeom prst="rect">
            <a:avLst/>
          </a:prstGeom>
        </p:spPr>
        <p:txBody>
          <a:bodyPr lIns="0" tIns="0" rIns="0" bIns="0" rtlCol="0" anchor="t">
            <a:spAutoFit/>
          </a:bodyPr>
          <a:lstStyle/>
          <a:p>
            <a:pPr marL="770342" lvl="1" indent="-385171" algn="l">
              <a:lnSpc>
                <a:spcPts val="3924"/>
              </a:lnSpc>
              <a:buFont typeface="Arial"/>
              <a:buChar char="•"/>
            </a:pPr>
            <a:r>
              <a:rPr lang="en-US" sz="3568">
                <a:solidFill>
                  <a:srgbClr val="002566"/>
                </a:solidFill>
                <a:latin typeface="Sarabun"/>
                <a:ea typeface="Sarabun"/>
                <a:cs typeface="Sarabun"/>
                <a:sym typeface="Sarabun"/>
              </a:rPr>
              <a:t>Implement feedback systems to improve AI performance over time</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Use real-time data monitoring for faster decision-making</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Ensure data privacy and cybersecurity measures are in place</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Promote cross-functional collaboration (IT + business teams)</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Conduct regular AI audits to check effectiveness and fairness</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Use predictive analytics to improve future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5022536" y="-1797506"/>
            <a:ext cx="13306602" cy="15883501"/>
            <a:chOff x="0" y="0"/>
            <a:chExt cx="3504619" cy="4183309"/>
          </a:xfrm>
        </p:grpSpPr>
        <p:sp>
          <p:nvSpPr>
            <p:cNvPr id="3" name="Freeform 3"/>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alpha val="15686"/>
              </a:srgbClr>
            </a:solidFill>
          </p:spPr>
        </p:sp>
        <p:sp>
          <p:nvSpPr>
            <p:cNvPr id="4" name="TextBox 4"/>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3447135" y="-3012293"/>
            <a:ext cx="13306602" cy="15883501"/>
            <a:chOff x="0" y="0"/>
            <a:chExt cx="3504619" cy="4183309"/>
          </a:xfrm>
        </p:grpSpPr>
        <p:sp>
          <p:nvSpPr>
            <p:cNvPr id="6" name="Freeform 6"/>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solidFill>
          </p:spPr>
        </p:sp>
        <p:sp>
          <p:nvSpPr>
            <p:cNvPr id="7" name="TextBox 7"/>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597715" y="678419"/>
            <a:ext cx="9666871" cy="1109771"/>
          </a:xfrm>
          <a:prstGeom prst="rect">
            <a:avLst/>
          </a:prstGeom>
        </p:spPr>
        <p:txBody>
          <a:bodyPr lIns="0" tIns="0" rIns="0" bIns="0" rtlCol="0" anchor="t">
            <a:spAutoFit/>
          </a:bodyPr>
          <a:lstStyle/>
          <a:p>
            <a:pPr algn="l">
              <a:lnSpc>
                <a:spcPts val="8695"/>
              </a:lnSpc>
            </a:pPr>
            <a:r>
              <a:rPr lang="en-US" sz="7904" b="1">
                <a:solidFill>
                  <a:srgbClr val="FFFFFF"/>
                </a:solidFill>
                <a:latin typeface="Sarabun Bold"/>
                <a:ea typeface="Sarabun Bold"/>
                <a:cs typeface="Sarabun Bold"/>
                <a:sym typeface="Sarabun Bold"/>
              </a:rPr>
              <a:t>REFERENCE</a:t>
            </a:r>
          </a:p>
        </p:txBody>
      </p:sp>
      <p:sp>
        <p:nvSpPr>
          <p:cNvPr id="9" name="TextBox 9"/>
          <p:cNvSpPr txBox="1"/>
          <p:nvPr/>
        </p:nvSpPr>
        <p:spPr>
          <a:xfrm>
            <a:off x="4134093" y="2921691"/>
            <a:ext cx="10019814" cy="2124074"/>
          </a:xfrm>
          <a:prstGeom prst="rect">
            <a:avLst/>
          </a:prstGeom>
        </p:spPr>
        <p:txBody>
          <a:bodyPr lIns="0" tIns="0" rIns="0" bIns="0" rtlCol="0" anchor="t">
            <a:spAutoFit/>
          </a:bodyPr>
          <a:lstStyle/>
          <a:p>
            <a:pPr algn="l">
              <a:lnSpc>
                <a:spcPts val="3351"/>
              </a:lnSpc>
            </a:pPr>
            <a:r>
              <a:rPr lang="en-US" sz="3046">
                <a:solidFill>
                  <a:srgbClr val="FFFFFF"/>
                </a:solidFill>
                <a:latin typeface="Sarabun"/>
                <a:ea typeface="Sarabun"/>
                <a:cs typeface="Sarabun"/>
                <a:sym typeface="Sarabun"/>
              </a:rPr>
              <a:t>•  Kaggle : Agentic_AI_leadership Dataset</a:t>
            </a:r>
          </a:p>
          <a:p>
            <a:pPr algn="l">
              <a:lnSpc>
                <a:spcPts val="3351"/>
              </a:lnSpc>
            </a:pPr>
            <a:endParaRPr lang="en-US" sz="3046">
              <a:solidFill>
                <a:srgbClr val="FFFFFF"/>
              </a:solidFill>
              <a:latin typeface="Sarabun"/>
              <a:ea typeface="Sarabun"/>
              <a:cs typeface="Sarabun"/>
              <a:sym typeface="Sarabun"/>
            </a:endParaRPr>
          </a:p>
          <a:p>
            <a:pPr algn="l">
              <a:lnSpc>
                <a:spcPts val="3351"/>
              </a:lnSpc>
            </a:pPr>
            <a:r>
              <a:rPr lang="en-US" sz="3046">
                <a:solidFill>
                  <a:srgbClr val="FFFFFF"/>
                </a:solidFill>
                <a:latin typeface="Sarabun"/>
                <a:ea typeface="Sarabun"/>
                <a:cs typeface="Sarabun"/>
                <a:sym typeface="Sarabun"/>
              </a:rPr>
              <a:t>       https://www.kaggle.com</a:t>
            </a:r>
          </a:p>
          <a:p>
            <a:pPr algn="l">
              <a:lnSpc>
                <a:spcPts val="3351"/>
              </a:lnSpc>
            </a:pPr>
            <a:endParaRPr lang="en-US" sz="3046">
              <a:solidFill>
                <a:srgbClr val="FFFFFF"/>
              </a:solidFill>
              <a:latin typeface="Sarabun"/>
              <a:ea typeface="Sarabun"/>
              <a:cs typeface="Sarabun"/>
              <a:sym typeface="Sarabun"/>
            </a:endParaRPr>
          </a:p>
          <a:p>
            <a:pPr algn="l">
              <a:lnSpc>
                <a:spcPts val="3351"/>
              </a:lnSpc>
            </a:pPr>
            <a:endParaRPr lang="en-US" sz="3046">
              <a:solidFill>
                <a:srgbClr val="FFFFFF"/>
              </a:solidFill>
              <a:latin typeface="Sarabun"/>
              <a:ea typeface="Sarabun"/>
              <a:cs typeface="Sarabun"/>
              <a:sym typeface="Sarabu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3950793" y="-2108440"/>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2700000">
            <a:off x="6083269" y="-2937058"/>
            <a:ext cx="10629179" cy="13177170"/>
            <a:chOff x="0" y="0"/>
            <a:chExt cx="2799455" cy="3470530"/>
          </a:xfrm>
        </p:grpSpPr>
        <p:sp>
          <p:nvSpPr>
            <p:cNvPr id="6" name="Freeform 6"/>
            <p:cNvSpPr/>
            <p:nvPr/>
          </p:nvSpPr>
          <p:spPr>
            <a:xfrm>
              <a:off x="0" y="0"/>
              <a:ext cx="2799455" cy="3470530"/>
            </a:xfrm>
            <a:custGeom>
              <a:avLst/>
              <a:gdLst/>
              <a:ahLst/>
              <a:cxnLst/>
              <a:rect l="l" t="t" r="r" b="b"/>
              <a:pathLst>
                <a:path w="2799455" h="3470530">
                  <a:moveTo>
                    <a:pt x="37147" y="0"/>
                  </a:moveTo>
                  <a:lnTo>
                    <a:pt x="2762308" y="0"/>
                  </a:lnTo>
                  <a:cubicBezTo>
                    <a:pt x="2782824" y="0"/>
                    <a:pt x="2799455" y="16631"/>
                    <a:pt x="2799455" y="37147"/>
                  </a:cubicBezTo>
                  <a:lnTo>
                    <a:pt x="2799455" y="3433384"/>
                  </a:lnTo>
                  <a:cubicBezTo>
                    <a:pt x="2799455" y="3443236"/>
                    <a:pt x="2795541" y="3452684"/>
                    <a:pt x="2788575" y="3459650"/>
                  </a:cubicBezTo>
                  <a:cubicBezTo>
                    <a:pt x="2781608" y="3466617"/>
                    <a:pt x="2772160" y="3470530"/>
                    <a:pt x="2762308" y="3470530"/>
                  </a:cubicBezTo>
                  <a:lnTo>
                    <a:pt x="37147" y="3470530"/>
                  </a:lnTo>
                  <a:cubicBezTo>
                    <a:pt x="27295" y="3470530"/>
                    <a:pt x="17846" y="3466617"/>
                    <a:pt x="10880" y="3459650"/>
                  </a:cubicBezTo>
                  <a:cubicBezTo>
                    <a:pt x="3914" y="3452684"/>
                    <a:pt x="0" y="3443236"/>
                    <a:pt x="0" y="3433384"/>
                  </a:cubicBezTo>
                  <a:lnTo>
                    <a:pt x="0" y="37147"/>
                  </a:lnTo>
                  <a:cubicBezTo>
                    <a:pt x="0" y="27295"/>
                    <a:pt x="3914" y="17846"/>
                    <a:pt x="10880" y="10880"/>
                  </a:cubicBezTo>
                  <a:cubicBezTo>
                    <a:pt x="17846" y="3914"/>
                    <a:pt x="27295" y="0"/>
                    <a:pt x="37147" y="0"/>
                  </a:cubicBezTo>
                  <a:close/>
                </a:path>
              </a:pathLst>
            </a:custGeom>
            <a:solidFill>
              <a:srgbClr val="002566"/>
            </a:solidFill>
          </p:spPr>
        </p:sp>
        <p:sp>
          <p:nvSpPr>
            <p:cNvPr id="7" name="TextBox 7"/>
            <p:cNvSpPr txBox="1"/>
            <p:nvPr/>
          </p:nvSpPr>
          <p:spPr>
            <a:xfrm>
              <a:off x="0" y="-28575"/>
              <a:ext cx="2799455" cy="349910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700000">
            <a:off x="-6742410" y="1726526"/>
            <a:ext cx="10629179" cy="11637912"/>
            <a:chOff x="0" y="0"/>
            <a:chExt cx="2799455" cy="3065129"/>
          </a:xfrm>
        </p:grpSpPr>
        <p:sp>
          <p:nvSpPr>
            <p:cNvPr id="9" name="Freeform 9"/>
            <p:cNvSpPr/>
            <p:nvPr/>
          </p:nvSpPr>
          <p:spPr>
            <a:xfrm>
              <a:off x="0" y="0"/>
              <a:ext cx="2799455" cy="3065129"/>
            </a:xfrm>
            <a:custGeom>
              <a:avLst/>
              <a:gdLst/>
              <a:ahLst/>
              <a:cxnLst/>
              <a:rect l="l" t="t" r="r" b="b"/>
              <a:pathLst>
                <a:path w="2799455" h="3065129">
                  <a:moveTo>
                    <a:pt x="37147" y="0"/>
                  </a:moveTo>
                  <a:lnTo>
                    <a:pt x="2762308" y="0"/>
                  </a:lnTo>
                  <a:cubicBezTo>
                    <a:pt x="2782824" y="0"/>
                    <a:pt x="2799455" y="16631"/>
                    <a:pt x="2799455" y="37147"/>
                  </a:cubicBezTo>
                  <a:lnTo>
                    <a:pt x="2799455" y="3027983"/>
                  </a:lnTo>
                  <a:cubicBezTo>
                    <a:pt x="2799455" y="3037835"/>
                    <a:pt x="2795541" y="3047283"/>
                    <a:pt x="2788575" y="3054249"/>
                  </a:cubicBezTo>
                  <a:cubicBezTo>
                    <a:pt x="2781608" y="3061215"/>
                    <a:pt x="2772160" y="3065129"/>
                    <a:pt x="2762308" y="3065129"/>
                  </a:cubicBezTo>
                  <a:lnTo>
                    <a:pt x="37147" y="3065129"/>
                  </a:lnTo>
                  <a:cubicBezTo>
                    <a:pt x="27295" y="3065129"/>
                    <a:pt x="17846" y="3061215"/>
                    <a:pt x="10880" y="3054249"/>
                  </a:cubicBezTo>
                  <a:cubicBezTo>
                    <a:pt x="3914" y="3047283"/>
                    <a:pt x="0" y="3037835"/>
                    <a:pt x="0" y="3027983"/>
                  </a:cubicBezTo>
                  <a:lnTo>
                    <a:pt x="0" y="37147"/>
                  </a:lnTo>
                  <a:cubicBezTo>
                    <a:pt x="0" y="27295"/>
                    <a:pt x="3914" y="17846"/>
                    <a:pt x="10880" y="10880"/>
                  </a:cubicBezTo>
                  <a:cubicBezTo>
                    <a:pt x="17846" y="3914"/>
                    <a:pt x="27295" y="0"/>
                    <a:pt x="37147" y="0"/>
                  </a:cubicBezTo>
                  <a:close/>
                </a:path>
              </a:pathLst>
            </a:custGeom>
            <a:solidFill>
              <a:srgbClr val="002566"/>
            </a:solidFill>
          </p:spPr>
        </p:sp>
        <p:sp>
          <p:nvSpPr>
            <p:cNvPr id="10" name="TextBox 10"/>
            <p:cNvSpPr txBox="1"/>
            <p:nvPr/>
          </p:nvSpPr>
          <p:spPr>
            <a:xfrm>
              <a:off x="0" y="-28575"/>
              <a:ext cx="2799455" cy="309370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843864" y="2149752"/>
            <a:ext cx="10620170" cy="3241676"/>
          </a:xfrm>
          <a:prstGeom prst="rect">
            <a:avLst/>
          </a:prstGeom>
        </p:spPr>
        <p:txBody>
          <a:bodyPr lIns="0" tIns="0" rIns="0" bIns="0" rtlCol="0" anchor="t">
            <a:spAutoFit/>
          </a:bodyPr>
          <a:lstStyle/>
          <a:p>
            <a:pPr algn="r">
              <a:lnSpc>
                <a:spcPts val="12500"/>
              </a:lnSpc>
            </a:pPr>
            <a:r>
              <a:rPr lang="en-US" sz="12500" b="1">
                <a:solidFill>
                  <a:srgbClr val="FFFFFF"/>
                </a:solidFill>
                <a:latin typeface="Sarabun Bold"/>
                <a:ea typeface="Sarabun Bold"/>
                <a:cs typeface="Sarabun Bold"/>
                <a:sym typeface="Sarabun Bold"/>
              </a:rPr>
              <a:t>THANK </a:t>
            </a:r>
          </a:p>
          <a:p>
            <a:pPr algn="r">
              <a:lnSpc>
                <a:spcPts val="12500"/>
              </a:lnSpc>
            </a:pPr>
            <a:r>
              <a:rPr lang="en-US" sz="12500" b="1">
                <a:solidFill>
                  <a:srgbClr val="FFFFFF"/>
                </a:solidFill>
                <a:latin typeface="Sarabun Bold"/>
                <a:ea typeface="Sarabun Bold"/>
                <a:cs typeface="Sarabun Bold"/>
                <a:sym typeface="Sarabun Bold"/>
              </a:rPr>
              <a:t>YOU</a:t>
            </a:r>
          </a:p>
        </p:txBody>
      </p:sp>
      <p:sp>
        <p:nvSpPr>
          <p:cNvPr id="12" name="AutoShape 12"/>
          <p:cNvSpPr/>
          <p:nvPr/>
        </p:nvSpPr>
        <p:spPr>
          <a:xfrm>
            <a:off x="9144000" y="6086545"/>
            <a:ext cx="5320034" cy="0"/>
          </a:xfrm>
          <a:prstGeom prst="line">
            <a:avLst/>
          </a:prstGeom>
          <a:ln w="38100" cap="flat">
            <a:solidFill>
              <a:srgbClr val="FFFFFF"/>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385</Words>
  <Application>Microsoft Office PowerPoint</Application>
  <PresentationFormat>Custom</PresentationFormat>
  <Paragraphs>57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Sarabun Italics</vt:lpstr>
      <vt:lpstr>Sarabun Bold</vt:lpstr>
      <vt:lpstr>Calibri</vt:lpstr>
      <vt:lpstr>Sarabun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LEADERSHIPMPERFORMANCE</dc:title>
  <cp:lastModifiedBy>rohinisuresh1118@gmail.com</cp:lastModifiedBy>
  <cp:revision>2</cp:revision>
  <dcterms:created xsi:type="dcterms:W3CDTF">2006-08-16T00:00:00Z</dcterms:created>
  <dcterms:modified xsi:type="dcterms:W3CDTF">2026-05-07T06:23:36Z</dcterms:modified>
  <dc:identifier>DAHH9_wID3M</dc:identifier>
</cp:coreProperties>
</file>